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1F7"/>
          </a:solidFill>
          <a:ln>
            <a:solidFill>
              <a:srgbClr val="EAF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62C44"/>
          </a:solidFill>
          <a:ln>
            <a:solidFill>
              <a:srgbClr val="162C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005840"/>
            <a:ext cx="9875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162C44"/>
                </a:solidFill>
              </a:rPr>
              <a:t>Air Quality Sensor Calibration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74519"/>
            <a:ext cx="8961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27608E"/>
                </a:solidFill>
              </a:rPr>
              <a:t>A reproducible Python workflow for noisy environmental sensor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743200"/>
            <a:ext cx="6583680" cy="19202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162C44"/>
                </a:solidFill>
              </a:defRPr>
            </a:pPr>
            <a:r>
              <a:t>Python, Streamlit, pandas, Plotly, scikit-learn</a:t>
            </a:r>
          </a:p>
          <a:p>
            <a:pPr>
              <a:spcAft>
                <a:spcPts val="900"/>
              </a:spcAft>
              <a:defRPr sz="2000">
                <a:solidFill>
                  <a:srgbClr val="162C44"/>
                </a:solidFill>
              </a:defRPr>
            </a:pPr>
            <a:r>
              <a:t>UCI Air Quality Chemical Multisensor Dataset</a:t>
            </a:r>
          </a:p>
          <a:p>
            <a:pPr>
              <a:spcAft>
                <a:spcPts val="900"/>
              </a:spcAft>
              <a:defRPr sz="2000">
                <a:solidFill>
                  <a:srgbClr val="162C44"/>
                </a:solidFill>
              </a:defRPr>
            </a:pPr>
            <a:r>
              <a:t>Regression-based calibration against certified reference measurements</a:t>
            </a:r>
          </a:p>
          <a:p>
            <a:pPr>
              <a:spcAft>
                <a:spcPts val="900"/>
              </a:spcAft>
              <a:defRPr sz="2000">
                <a:solidFill>
                  <a:srgbClr val="162C44"/>
                </a:solidFill>
              </a:defRPr>
            </a:pPr>
            <a:r>
              <a:t>Scientific data analysis and software engineering portfolio project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18120" y="1417320"/>
            <a:ext cx="3657600" cy="3611880"/>
          </a:xfrm>
          <a:prstGeom prst="roundRect">
            <a:avLst/>
          </a:prstGeom>
          <a:solidFill>
            <a:srgbClr val="ECF2F8"/>
          </a:solidFill>
          <a:ln>
            <a:solidFill>
              <a:srgbClr val="C5D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098280" y="1874519"/>
            <a:ext cx="1097280" cy="1097280"/>
          </a:xfrm>
          <a:prstGeom prst="ellipse">
            <a:avLst/>
          </a:prstGeom>
          <a:solidFill>
            <a:srgbClr val="27608E"/>
          </a:solidFill>
          <a:ln>
            <a:solidFill>
              <a:srgbClr val="2760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879" y="3154680"/>
            <a:ext cx="29260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162C44"/>
                </a:solidFill>
              </a:rPr>
              <a:t>Project scope: data cleaning -&gt; analysis -&gt; modelling -&gt; documentation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5715000"/>
            <a:ext cx="10835640" cy="594360"/>
          </a:xfrm>
          <a:prstGeom prst="roundRect">
            <a:avLst/>
          </a:prstGeom>
          <a:solidFill>
            <a:srgbClr val="F5F7FA"/>
          </a:solidFill>
          <a:ln>
            <a:solidFill>
              <a:srgbClr val="DD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56606E"/>
                </a:solidFill>
              </a:defRPr>
            </a:pPr>
            <a:r>
              <a:t>Speaker note: This project analyses real air-quality sensor data and builds a reproducible workflow for cleaning, exploration, and regression modelling.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62C44"/>
          </a:solidFill>
          <a:ln>
            <a:solidFill>
              <a:srgbClr val="162C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62C44"/>
                </a:solidFill>
              </a:rPr>
              <a:t>Problem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508760"/>
            <a:ext cx="6766560" cy="3566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162C44"/>
                </a:solidFill>
              </a:defRPr>
            </a:pPr>
            <a:r>
              <a:t>Field-deployed chemical sensors produce noisy signals</a:t>
            </a:r>
          </a:p>
          <a:p>
            <a:pPr>
              <a:spcAft>
                <a:spcPts val="900"/>
              </a:spcAft>
              <a:defRPr sz="2000">
                <a:solidFill>
                  <a:srgbClr val="162C44"/>
                </a:solidFill>
              </a:defRPr>
            </a:pPr>
            <a:r>
              <a:t>Certified analyzers provide reliable reference measurements but are expensive</a:t>
            </a:r>
          </a:p>
          <a:p>
            <a:pPr>
              <a:spcAft>
                <a:spcPts val="900"/>
              </a:spcAft>
              <a:defRPr sz="2000">
                <a:solidFill>
                  <a:srgbClr val="162C44"/>
                </a:solidFill>
              </a:defRPr>
            </a:pPr>
            <a:r>
              <a:t>Sensor readings can be affected by missing values, humidity, cross-sensitivity, and drift</a:t>
            </a:r>
          </a:p>
          <a:p>
            <a:pPr>
              <a:spcAft>
                <a:spcPts val="900"/>
              </a:spcAft>
              <a:defRPr sz="2000">
                <a:solidFill>
                  <a:srgbClr val="162C44"/>
                </a:solidFill>
              </a:defRPr>
            </a:pPr>
            <a:r>
              <a:t>Goal: estimate gas concentrations from sensor responses in a reproducible workflow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18120" y="1417320"/>
            <a:ext cx="3657600" cy="3611880"/>
          </a:xfrm>
          <a:prstGeom prst="roundRect">
            <a:avLst/>
          </a:prstGeom>
          <a:solidFill>
            <a:srgbClr val="ECF2F8"/>
          </a:solidFill>
          <a:ln>
            <a:solidFill>
              <a:srgbClr val="C5D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098280" y="1874519"/>
            <a:ext cx="1097280" cy="1097280"/>
          </a:xfrm>
          <a:prstGeom prst="ellipse">
            <a:avLst/>
          </a:prstGeom>
          <a:solidFill>
            <a:srgbClr val="2A8482"/>
          </a:solidFill>
          <a:ln>
            <a:solidFill>
              <a:srgbClr val="2A84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83879" y="3154680"/>
            <a:ext cx="29260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162C44"/>
                </a:solidFill>
              </a:rPr>
              <a:t>Sensor device signals compared with certified analyzer targets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5715000"/>
            <a:ext cx="10835640" cy="594360"/>
          </a:xfrm>
          <a:prstGeom prst="roundRect">
            <a:avLst/>
          </a:prstGeom>
          <a:solidFill>
            <a:srgbClr val="F5F7FA"/>
          </a:solidFill>
          <a:ln>
            <a:solidFill>
              <a:srgbClr val="DD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56606E"/>
                </a:solidFill>
              </a:defRPr>
            </a:pPr>
            <a:r>
              <a:t>Speaker note: The challenge is not only model training. The important part is handling imperfect scientific data and documenting assumptions.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56606E"/>
                </a:solidFill>
              </a:rPr>
              <a:t>Air Quality Sensor Calibration Dashboard | Python scientific data workflow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62C44"/>
          </a:solidFill>
          <a:ln>
            <a:solidFill>
              <a:srgbClr val="162C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62C44"/>
                </a:solidFill>
              </a:rPr>
              <a:t>Dataset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508760"/>
            <a:ext cx="6766560" cy="3566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162C44"/>
                </a:solidFill>
              </a:defRPr>
            </a:pPr>
            <a:r>
              <a:t>9,357 cleaned hourly observations after loading and empty-row removal</a:t>
            </a:r>
          </a:p>
          <a:p>
            <a:pPr>
              <a:spcAft>
                <a:spcPts val="900"/>
              </a:spcAft>
              <a:defRPr sz="2000">
                <a:solidFill>
                  <a:srgbClr val="162C44"/>
                </a:solidFill>
              </a:defRPr>
            </a:pPr>
            <a:r>
              <a:t>Urban Italian field deployment from March 2004 to April 2005</a:t>
            </a:r>
          </a:p>
          <a:p>
            <a:pPr>
              <a:spcAft>
                <a:spcPts val="900"/>
              </a:spcAft>
              <a:defRPr sz="2000">
                <a:solidFill>
                  <a:srgbClr val="162C44"/>
                </a:solidFill>
              </a:defRPr>
            </a:pPr>
            <a:r>
              <a:t>`GT` columns: certified reference analyzer concentrations</a:t>
            </a:r>
          </a:p>
          <a:p>
            <a:pPr>
              <a:spcAft>
                <a:spcPts val="900"/>
              </a:spcAft>
              <a:defRPr sz="2000">
                <a:solidFill>
                  <a:srgbClr val="162C44"/>
                </a:solidFill>
              </a:defRPr>
            </a:pPr>
            <a:r>
              <a:t>`PT08...` columns: raw metal oxide sensor responses, not certified concentrations</a:t>
            </a:r>
          </a:p>
          <a:p>
            <a:pPr>
              <a:spcAft>
                <a:spcPts val="900"/>
              </a:spcAft>
              <a:defRPr sz="2000">
                <a:solidFill>
                  <a:srgbClr val="162C44"/>
                </a:solidFill>
              </a:defRPr>
            </a:pPr>
            <a:r>
              <a:t>Meteorological covariates: temperature, relative humidity, absolute humidity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18120" y="1417320"/>
            <a:ext cx="3657600" cy="3611880"/>
          </a:xfrm>
          <a:prstGeom prst="roundRect">
            <a:avLst/>
          </a:prstGeom>
          <a:solidFill>
            <a:srgbClr val="ECF2F8"/>
          </a:solidFill>
          <a:ln>
            <a:solidFill>
              <a:srgbClr val="C5D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098280" y="1874519"/>
            <a:ext cx="1097280" cy="1097280"/>
          </a:xfrm>
          <a:prstGeom prst="ellipse">
            <a:avLst/>
          </a:prstGeom>
          <a:solidFill>
            <a:srgbClr val="4D8C57"/>
          </a:solidFill>
          <a:ln>
            <a:solidFill>
              <a:srgbClr val="4D8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83879" y="3154680"/>
            <a:ext cx="29260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162C44"/>
                </a:solidFill>
              </a:rPr>
              <a:t>Data dictionary: timestamp, GT targets, PT08 sensors, meteorology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5715000"/>
            <a:ext cx="10835640" cy="594360"/>
          </a:xfrm>
          <a:prstGeom prst="roundRect">
            <a:avLst/>
          </a:prstGeom>
          <a:solidFill>
            <a:srgbClr val="F5F7FA"/>
          </a:solidFill>
          <a:ln>
            <a:solidFill>
              <a:srgbClr val="DD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56606E"/>
                </a:solidFill>
              </a:defRPr>
            </a:pPr>
            <a:r>
              <a:t>Speaker note: A key distinction is GT versus PT08: GT is ground truth reference measurement, PT08 is a sensor response signal.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56606E"/>
                </a:solidFill>
              </a:rPr>
              <a:t>Air Quality Sensor Calibration Dashboard | Python scientific data workflow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62C44"/>
          </a:solidFill>
          <a:ln>
            <a:solidFill>
              <a:srgbClr val="162C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62C44"/>
                </a:solidFill>
              </a:rPr>
              <a:t>Data Cleaning and Reproducibility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508760"/>
            <a:ext cx="6766560" cy="3566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162C44"/>
                </a:solidFill>
              </a:defRPr>
            </a:pPr>
            <a:r>
              <a:t>Parse semicolon-separated CSV with European decimal commas</a:t>
            </a:r>
          </a:p>
          <a:p>
            <a:pPr>
              <a:spcAft>
                <a:spcPts val="900"/>
              </a:spcAft>
              <a:defRPr sz="2000">
                <a:solidFill>
                  <a:srgbClr val="162C44"/>
                </a:solidFill>
              </a:defRPr>
            </a:pPr>
            <a:r>
              <a:t>Combine `Date` and `Time` into a proper timestamp</a:t>
            </a:r>
          </a:p>
          <a:p>
            <a:pPr>
              <a:spcAft>
                <a:spcPts val="900"/>
              </a:spcAft>
              <a:defRPr sz="2000">
                <a:solidFill>
                  <a:srgbClr val="162C44"/>
                </a:solidFill>
              </a:defRPr>
            </a:pPr>
            <a:r>
              <a:t>Convert `-200` sentinel values into `NaN`</a:t>
            </a:r>
          </a:p>
          <a:p>
            <a:pPr>
              <a:spcAft>
                <a:spcPts val="900"/>
              </a:spcAft>
              <a:defRPr sz="2000">
                <a:solidFill>
                  <a:srgbClr val="162C44"/>
                </a:solidFill>
              </a:defRPr>
            </a:pPr>
            <a:r>
              <a:t>Keep measurement columns as numeric `float64` values</a:t>
            </a:r>
          </a:p>
          <a:p>
            <a:pPr>
              <a:spcAft>
                <a:spcPts val="900"/>
              </a:spcAft>
              <a:defRPr sz="2000">
                <a:solidFill>
                  <a:srgbClr val="162C44"/>
                </a:solidFill>
              </a:defRPr>
            </a:pPr>
            <a:r>
              <a:t>Centralize loading logic in `src/utils/data_loader.py`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18120" y="1417320"/>
            <a:ext cx="3657600" cy="3611880"/>
          </a:xfrm>
          <a:prstGeom prst="roundRect">
            <a:avLst/>
          </a:prstGeom>
          <a:solidFill>
            <a:srgbClr val="ECF2F8"/>
          </a:solidFill>
          <a:ln>
            <a:solidFill>
              <a:srgbClr val="C5D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098280" y="1874519"/>
            <a:ext cx="1097280" cy="1097280"/>
          </a:xfrm>
          <a:prstGeom prst="ellipse">
            <a:avLst/>
          </a:prstGeom>
          <a:solidFill>
            <a:srgbClr val="B24940"/>
          </a:solidFill>
          <a:ln>
            <a:solidFill>
              <a:srgbClr val="B249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83879" y="3154680"/>
            <a:ext cx="29260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162C44"/>
                </a:solidFill>
              </a:rPr>
              <a:t>Raw CSV -&gt; validated timestamped numeric dataset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5715000"/>
            <a:ext cx="10835640" cy="594360"/>
          </a:xfrm>
          <a:prstGeom prst="roundRect">
            <a:avLst/>
          </a:prstGeom>
          <a:solidFill>
            <a:srgbClr val="F5F7FA"/>
          </a:solidFill>
          <a:ln>
            <a:solidFill>
              <a:srgbClr val="DD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56606E"/>
                </a:solidFill>
              </a:defRPr>
            </a:pPr>
            <a:r>
              <a:t>Speaker note: The -200 sentinel must not be treated as a real low pollutant value. It is an invalid measurement marker.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56606E"/>
                </a:solidFill>
              </a:rPr>
              <a:t>Air Quality Sensor Calibration Dashboard | Python scientific data workflow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62C44"/>
          </a:solidFill>
          <a:ln>
            <a:solidFill>
              <a:srgbClr val="162C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62C44"/>
                </a:solidFill>
              </a:rPr>
              <a:t>Exploratory Data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508760"/>
            <a:ext cx="6766560" cy="3566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162C44"/>
                </a:solidFill>
              </a:defRPr>
            </a:pPr>
            <a:r>
              <a:t>Variable type distribution and data dictionary</a:t>
            </a:r>
          </a:p>
          <a:p>
            <a:pPr>
              <a:spcAft>
                <a:spcPts val="900"/>
              </a:spcAft>
              <a:defRPr sz="2000">
                <a:solidFill>
                  <a:srgbClr val="162C44"/>
                </a:solidFill>
              </a:defRPr>
            </a:pPr>
            <a:r>
              <a:t>Missing-value analysis and monthly missingness</a:t>
            </a:r>
          </a:p>
          <a:p>
            <a:pPr>
              <a:spcAft>
                <a:spcPts val="900"/>
              </a:spcAft>
              <a:defRPr sz="2000">
                <a:solidFill>
                  <a:srgbClr val="162C44"/>
                </a:solidFill>
              </a:defRPr>
            </a:pPr>
            <a:r>
              <a:t>Sensor versus reference analyzer scatter plots</a:t>
            </a:r>
          </a:p>
          <a:p>
            <a:pPr>
              <a:spcAft>
                <a:spcPts val="900"/>
              </a:spcAft>
              <a:defRPr sz="2000">
                <a:solidFill>
                  <a:srgbClr val="162C44"/>
                </a:solidFill>
              </a:defRPr>
            </a:pPr>
            <a:r>
              <a:t>Pearson and Spearman correlation matrices</a:t>
            </a:r>
          </a:p>
          <a:p>
            <a:pPr>
              <a:spcAft>
                <a:spcPts val="900"/>
              </a:spcAft>
              <a:defRPr sz="2000">
                <a:solidFill>
                  <a:srgbClr val="162C44"/>
                </a:solidFill>
              </a:defRPr>
            </a:pPr>
            <a:r>
              <a:t>p-values, adjacency matrix, and filtered correlation network graph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18120" y="1417320"/>
            <a:ext cx="3657600" cy="3611880"/>
          </a:xfrm>
          <a:prstGeom prst="roundRect">
            <a:avLst/>
          </a:prstGeom>
          <a:solidFill>
            <a:srgbClr val="ECF2F8"/>
          </a:solidFill>
          <a:ln>
            <a:solidFill>
              <a:srgbClr val="C5D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098280" y="1874519"/>
            <a:ext cx="1097280" cy="1097280"/>
          </a:xfrm>
          <a:prstGeom prst="ellipse">
            <a:avLst/>
          </a:prstGeom>
          <a:solidFill>
            <a:srgbClr val="27608E"/>
          </a:solidFill>
          <a:ln>
            <a:solidFill>
              <a:srgbClr val="2760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83879" y="3154680"/>
            <a:ext cx="29260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162C44"/>
                </a:solidFill>
              </a:rPr>
              <a:t>Dashboard pages: Data Overview and Sensor Analysis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5715000"/>
            <a:ext cx="10835640" cy="594360"/>
          </a:xfrm>
          <a:prstGeom prst="roundRect">
            <a:avLst/>
          </a:prstGeom>
          <a:solidFill>
            <a:srgbClr val="F5F7FA"/>
          </a:solidFill>
          <a:ln>
            <a:solidFill>
              <a:srgbClr val="DD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56606E"/>
                </a:solidFill>
              </a:defRPr>
            </a:pPr>
            <a:r>
              <a:t>Speaker note: EDA is used to understand data quality, sensor-target relationships, and possible sources of noise before modelling.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56606E"/>
                </a:solidFill>
              </a:rPr>
              <a:t>Air Quality Sensor Calibration Dashboard | Python scientific data workflow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62C44"/>
          </a:solidFill>
          <a:ln>
            <a:solidFill>
              <a:srgbClr val="162C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62C44"/>
                </a:solidFill>
              </a:rPr>
              <a:t>Sensor-Reference Relationship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508760"/>
            <a:ext cx="6766560" cy="3566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162C44"/>
                </a:solidFill>
              </a:defRPr>
            </a:pPr>
            <a:r>
              <a:t>Compare raw sensor responses with certified reference targets</a:t>
            </a:r>
          </a:p>
          <a:p>
            <a:pPr>
              <a:spcAft>
                <a:spcPts val="900"/>
              </a:spcAft>
              <a:defRPr sz="2000">
                <a:solidFill>
                  <a:srgbClr val="162C44"/>
                </a:solidFill>
              </a:defRPr>
            </a:pPr>
            <a:r>
              <a:t>Example: `PT08.S2(NMHC)` versus `C6H6(GT)`</a:t>
            </a:r>
          </a:p>
          <a:p>
            <a:pPr>
              <a:spcAft>
                <a:spcPts val="900"/>
              </a:spcAft>
              <a:defRPr sz="2000">
                <a:solidFill>
                  <a:srgbClr val="162C44"/>
                </a:solidFill>
              </a:defRPr>
            </a:pPr>
            <a:r>
              <a:t>Strong relationships suggest useful calibration signals</a:t>
            </a:r>
          </a:p>
          <a:p>
            <a:pPr>
              <a:spcAft>
                <a:spcPts val="900"/>
              </a:spcAft>
              <a:defRPr sz="2000">
                <a:solidFill>
                  <a:srgbClr val="162C44"/>
                </a:solidFill>
              </a:defRPr>
            </a:pPr>
            <a:r>
              <a:t>Weak or unstable relationships may indicate noise, cross-sensitivity, or drift</a:t>
            </a:r>
          </a:p>
          <a:p>
            <a:pPr>
              <a:spcAft>
                <a:spcPts val="900"/>
              </a:spcAft>
              <a:defRPr sz="2000">
                <a:solidFill>
                  <a:srgbClr val="162C44"/>
                </a:solidFill>
              </a:defRPr>
            </a:pPr>
            <a:r>
              <a:t>Network graph keeps edges using correlation threshold and p-value alpha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18120" y="1417320"/>
            <a:ext cx="3657600" cy="3611880"/>
          </a:xfrm>
          <a:prstGeom prst="roundRect">
            <a:avLst/>
          </a:prstGeom>
          <a:solidFill>
            <a:srgbClr val="ECF2F8"/>
          </a:solidFill>
          <a:ln>
            <a:solidFill>
              <a:srgbClr val="C5D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098280" y="1874519"/>
            <a:ext cx="1097280" cy="1097280"/>
          </a:xfrm>
          <a:prstGeom prst="ellipse">
            <a:avLst/>
          </a:prstGeom>
          <a:solidFill>
            <a:srgbClr val="2A8482"/>
          </a:solidFill>
          <a:ln>
            <a:solidFill>
              <a:srgbClr val="2A84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83879" y="3154680"/>
            <a:ext cx="29260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162C44"/>
                </a:solidFill>
              </a:rPr>
              <a:t>Correlation matrix -&gt; adjacency matrix -&gt; network graph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5715000"/>
            <a:ext cx="10835640" cy="594360"/>
          </a:xfrm>
          <a:prstGeom prst="roundRect">
            <a:avLst/>
          </a:prstGeom>
          <a:solidFill>
            <a:srgbClr val="F5F7FA"/>
          </a:solidFill>
          <a:ln>
            <a:solidFill>
              <a:srgbClr val="DD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56606E"/>
                </a:solidFill>
              </a:defRPr>
            </a:pPr>
            <a:r>
              <a:t>Speaker note: The network graph is undirected. Correlation is diagnostic; it does not prove causal direction.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56606E"/>
                </a:solidFill>
              </a:rPr>
              <a:t>Air Quality Sensor Calibration Dashboard | Python scientific data workflow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62C44"/>
          </a:solidFill>
          <a:ln>
            <a:solidFill>
              <a:srgbClr val="162C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62C44"/>
                </a:solidFill>
              </a:rPr>
              <a:t>Machine Learning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508760"/>
            <a:ext cx="6766560" cy="3566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162C44"/>
                </a:solidFill>
              </a:defRPr>
            </a:pPr>
            <a:r>
              <a:t>Task: tabular regression, not classification</a:t>
            </a:r>
          </a:p>
          <a:p>
            <a:pPr>
              <a:spcAft>
                <a:spcPts val="900"/>
              </a:spcAft>
              <a:defRPr sz="2000">
                <a:solidFill>
                  <a:srgbClr val="162C44"/>
                </a:solidFill>
              </a:defRPr>
            </a:pPr>
            <a:r>
              <a:t>Targets: `CO(GT)`, `C6H6(GT)`, `NOx(GT)`, `NO2(GT)`</a:t>
            </a:r>
          </a:p>
          <a:p>
            <a:pPr>
              <a:spcAft>
                <a:spcPts val="900"/>
              </a:spcAft>
              <a:defRPr sz="2000">
                <a:solidFill>
                  <a:srgbClr val="162C44"/>
                </a:solidFill>
              </a:defRPr>
            </a:pPr>
            <a:r>
              <a:t>Features: sensor responses, meteorological variables, temporal features</a:t>
            </a:r>
          </a:p>
          <a:p>
            <a:pPr>
              <a:spcAft>
                <a:spcPts val="900"/>
              </a:spcAft>
              <a:defRPr sz="2000">
                <a:solidFill>
                  <a:srgbClr val="162C44"/>
                </a:solidFill>
              </a:defRPr>
            </a:pPr>
            <a:r>
              <a:t>Other `GT` columns excluded to reduce target leakage</a:t>
            </a:r>
          </a:p>
          <a:p>
            <a:pPr>
              <a:spcAft>
                <a:spcPts val="900"/>
              </a:spcAft>
              <a:defRPr sz="2000">
                <a:solidFill>
                  <a:srgbClr val="162C44"/>
                </a:solidFill>
              </a:defRPr>
            </a:pPr>
            <a:r>
              <a:t>Chronological holdout split and `TimeSeriesSplit` cross-validation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18120" y="1417320"/>
            <a:ext cx="3657600" cy="3611880"/>
          </a:xfrm>
          <a:prstGeom prst="roundRect">
            <a:avLst/>
          </a:prstGeom>
          <a:solidFill>
            <a:srgbClr val="ECF2F8"/>
          </a:solidFill>
          <a:ln>
            <a:solidFill>
              <a:srgbClr val="C5D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098280" y="1874519"/>
            <a:ext cx="1097280" cy="1097280"/>
          </a:xfrm>
          <a:prstGeom prst="ellipse">
            <a:avLst/>
          </a:prstGeom>
          <a:solidFill>
            <a:srgbClr val="4D8C57"/>
          </a:solidFill>
          <a:ln>
            <a:solidFill>
              <a:srgbClr val="4D8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83879" y="3154680"/>
            <a:ext cx="29260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162C44"/>
                </a:solidFill>
              </a:rPr>
              <a:t>Features -&gt; scikit-learn pipelines -&gt; regression metrics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5715000"/>
            <a:ext cx="10835640" cy="594360"/>
          </a:xfrm>
          <a:prstGeom prst="roundRect">
            <a:avLst/>
          </a:prstGeom>
          <a:solidFill>
            <a:srgbClr val="F5F7FA"/>
          </a:solidFill>
          <a:ln>
            <a:solidFill>
              <a:srgbClr val="DD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56606E"/>
                </a:solidFill>
              </a:defRPr>
            </a:pPr>
            <a:r>
              <a:t>Speaker note: Excluding other GT columns keeps the task closer to sensor calibration instead of score optimization through leaked reference measurements.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56606E"/>
                </a:solidFill>
              </a:rPr>
              <a:t>Air Quality Sensor Calibration Dashboard | Python scientific data workflow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62C44"/>
          </a:solidFill>
          <a:ln>
            <a:solidFill>
              <a:srgbClr val="162C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62C44"/>
                </a:solidFill>
              </a:rPr>
              <a:t>Models and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508760"/>
            <a:ext cx="6766560" cy="3566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162C44"/>
                </a:solidFill>
              </a:defRPr>
            </a:pPr>
            <a:r>
              <a:t>`DummyRegressor`: median baseline</a:t>
            </a:r>
          </a:p>
          <a:p>
            <a:pPr>
              <a:spcAft>
                <a:spcPts val="900"/>
              </a:spcAft>
              <a:defRPr sz="2000">
                <a:solidFill>
                  <a:srgbClr val="162C44"/>
                </a:solidFill>
              </a:defRPr>
            </a:pPr>
            <a:r>
              <a:t>`Ridge`: regularized linear model with `StandardScaler`</a:t>
            </a:r>
          </a:p>
          <a:p>
            <a:pPr>
              <a:spcAft>
                <a:spcPts val="900"/>
              </a:spcAft>
              <a:defRPr sz="2000">
                <a:solidFill>
                  <a:srgbClr val="162C44"/>
                </a:solidFill>
              </a:defRPr>
            </a:pPr>
            <a:r>
              <a:t>`RandomForestRegressor`: non-linear tree ensemble without scaling</a:t>
            </a:r>
          </a:p>
          <a:p>
            <a:pPr>
              <a:spcAft>
                <a:spcPts val="900"/>
              </a:spcAft>
              <a:defRPr sz="2000">
                <a:solidFill>
                  <a:srgbClr val="162C44"/>
                </a:solidFill>
              </a:defRPr>
            </a:pPr>
            <a:r>
              <a:t>`GradientBoostingRegressor`: stronger non-linear baseline without scaling</a:t>
            </a:r>
          </a:p>
          <a:p>
            <a:pPr>
              <a:spcAft>
                <a:spcPts val="900"/>
              </a:spcAft>
              <a:defRPr sz="2000">
                <a:solidFill>
                  <a:srgbClr val="162C44"/>
                </a:solidFill>
              </a:defRPr>
            </a:pPr>
            <a:r>
              <a:t>Metrics: MAE, RMSE, R2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18120" y="1417320"/>
            <a:ext cx="3657600" cy="3611880"/>
          </a:xfrm>
          <a:prstGeom prst="roundRect">
            <a:avLst/>
          </a:prstGeom>
          <a:solidFill>
            <a:srgbClr val="ECF2F8"/>
          </a:solidFill>
          <a:ln>
            <a:solidFill>
              <a:srgbClr val="C5D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098280" y="1874519"/>
            <a:ext cx="1097280" cy="1097280"/>
          </a:xfrm>
          <a:prstGeom prst="ellipse">
            <a:avLst/>
          </a:prstGeom>
          <a:solidFill>
            <a:srgbClr val="B24940"/>
          </a:solidFill>
          <a:ln>
            <a:solidFill>
              <a:srgbClr val="B249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83879" y="3154680"/>
            <a:ext cx="29260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162C44"/>
                </a:solidFill>
              </a:rPr>
              <a:t>Baseline vs linear model vs tree ensembles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5715000"/>
            <a:ext cx="10835640" cy="594360"/>
          </a:xfrm>
          <a:prstGeom prst="roundRect">
            <a:avLst/>
          </a:prstGeom>
          <a:solidFill>
            <a:srgbClr val="F5F7FA"/>
          </a:solidFill>
          <a:ln>
            <a:solidFill>
              <a:srgbClr val="DD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56606E"/>
                </a:solidFill>
              </a:defRPr>
            </a:pPr>
            <a:r>
              <a:t>Speaker note: Standardization is used only for Ridge because linear models are scale-sensitive. Tree models do not require min-max normalization.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56606E"/>
                </a:solidFill>
              </a:rPr>
              <a:t>Air Quality Sensor Calibration Dashboard | Python scientific data workflow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62C44"/>
          </a:solidFill>
          <a:ln>
            <a:solidFill>
              <a:srgbClr val="162C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62C44"/>
                </a:solidFill>
              </a:rPr>
              <a:t>Software Engineering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508760"/>
            <a:ext cx="6766560" cy="3566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162C44"/>
                </a:solidFill>
              </a:defRPr>
            </a:pPr>
            <a:r>
              <a:t>Streamlit UI separated from reusable Python logic</a:t>
            </a:r>
          </a:p>
          <a:p>
            <a:pPr>
              <a:spcAft>
                <a:spcPts val="900"/>
              </a:spcAft>
              <a:defRPr sz="2000">
                <a:solidFill>
                  <a:srgbClr val="162C44"/>
                </a:solidFill>
              </a:defRPr>
            </a:pPr>
            <a:r>
              <a:t>`src/utils`: data loading, preprocessing, analysis, metadata</a:t>
            </a:r>
          </a:p>
          <a:p>
            <a:pPr>
              <a:spcAft>
                <a:spcPts val="900"/>
              </a:spcAft>
              <a:defRPr sz="2000">
                <a:solidFill>
                  <a:srgbClr val="162C44"/>
                </a:solidFill>
              </a:defRPr>
            </a:pPr>
            <a:r>
              <a:t>`src/models`: regression pipelines and evaluation</a:t>
            </a:r>
          </a:p>
          <a:p>
            <a:pPr>
              <a:spcAft>
                <a:spcPts val="900"/>
              </a:spcAft>
              <a:defRPr sz="2000">
                <a:solidFill>
                  <a:srgbClr val="162C44"/>
                </a:solidFill>
              </a:defRPr>
            </a:pPr>
            <a:r>
              <a:t>`tests`: automated tests for core behaviour</a:t>
            </a:r>
          </a:p>
          <a:p>
            <a:pPr>
              <a:spcAft>
                <a:spcPts val="900"/>
              </a:spcAft>
              <a:defRPr sz="2000">
                <a:solidFill>
                  <a:srgbClr val="162C44"/>
                </a:solidFill>
              </a:defRPr>
            </a:pPr>
            <a:r>
              <a:t>`docs`: workflow, architecture, notebooks, Sphinx API documentation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18120" y="1417320"/>
            <a:ext cx="3657600" cy="3611880"/>
          </a:xfrm>
          <a:prstGeom prst="roundRect">
            <a:avLst/>
          </a:prstGeom>
          <a:solidFill>
            <a:srgbClr val="ECF2F8"/>
          </a:solidFill>
          <a:ln>
            <a:solidFill>
              <a:srgbClr val="C5D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098280" y="1874519"/>
            <a:ext cx="1097280" cy="1097280"/>
          </a:xfrm>
          <a:prstGeom prst="ellipse">
            <a:avLst/>
          </a:prstGeom>
          <a:solidFill>
            <a:srgbClr val="27608E"/>
          </a:solidFill>
          <a:ln>
            <a:solidFill>
              <a:srgbClr val="2760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83879" y="3154680"/>
            <a:ext cx="29260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162C44"/>
                </a:solidFill>
              </a:rPr>
              <a:t>UI layer -&gt; analysis modules -&gt; ML modules -&gt; dataset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5715000"/>
            <a:ext cx="10835640" cy="594360"/>
          </a:xfrm>
          <a:prstGeom prst="roundRect">
            <a:avLst/>
          </a:prstGeom>
          <a:solidFill>
            <a:srgbClr val="F5F7FA"/>
          </a:solidFill>
          <a:ln>
            <a:solidFill>
              <a:srgbClr val="DD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56606E"/>
                </a:solidFill>
              </a:defRPr>
            </a:pPr>
            <a:r>
              <a:t>Speaker note: The dashboard is the interface, but the reusable code lives in testable modules. This matters for scientific software maintainability.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56606E"/>
                </a:solidFill>
              </a:rPr>
              <a:t>Air Quality Sensor Calibration Dashboard | Python scientific data workflow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62C44"/>
          </a:solidFill>
          <a:ln>
            <a:solidFill>
              <a:srgbClr val="162C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62C44"/>
                </a:solidFill>
              </a:rPr>
              <a:t>Limitations and Future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508760"/>
            <a:ext cx="6766560" cy="3566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162C44"/>
                </a:solidFill>
              </a:defRPr>
            </a:pPr>
            <a:r>
              <a:t>Current limits: no explicit drift correction, no uncertainty estimates, no real-time ingestion</a:t>
            </a:r>
          </a:p>
          <a:p>
            <a:pPr>
              <a:spcAft>
                <a:spcPts val="900"/>
              </a:spcAft>
              <a:defRPr sz="2000">
                <a:solidFill>
                  <a:srgbClr val="162C44"/>
                </a:solidFill>
              </a:defRPr>
            </a:pPr>
            <a:r>
              <a:t>Not a regulatory air-quality certification system</a:t>
            </a:r>
          </a:p>
          <a:p>
            <a:pPr>
              <a:spcAft>
                <a:spcPts val="900"/>
              </a:spcAft>
              <a:defRPr sz="2000">
                <a:solidFill>
                  <a:srgbClr val="162C44"/>
                </a:solidFill>
              </a:defRPr>
            </a:pPr>
            <a:r>
              <a:t>Future: PostgreSQL database and API connected to sensor streams</a:t>
            </a:r>
          </a:p>
          <a:p>
            <a:pPr>
              <a:spcAft>
                <a:spcPts val="900"/>
              </a:spcAft>
              <a:defRPr sz="2000">
                <a:solidFill>
                  <a:srgbClr val="162C44"/>
                </a:solidFill>
              </a:defRPr>
            </a:pPr>
            <a:r>
              <a:t>Future: drift monitoring, prediction intervals, model versioning</a:t>
            </a:r>
          </a:p>
          <a:p>
            <a:pPr>
              <a:spcAft>
                <a:spcPts val="900"/>
              </a:spcAft>
              <a:defRPr sz="2000">
                <a:solidFill>
                  <a:srgbClr val="162C44"/>
                </a:solidFill>
              </a:defRPr>
            </a:pPr>
            <a:r>
              <a:t>Future: scheduled data-quality checks and operational monitoring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18120" y="1417320"/>
            <a:ext cx="3657600" cy="3611880"/>
          </a:xfrm>
          <a:prstGeom prst="roundRect">
            <a:avLst/>
          </a:prstGeom>
          <a:solidFill>
            <a:srgbClr val="ECF2F8"/>
          </a:solidFill>
          <a:ln>
            <a:solidFill>
              <a:srgbClr val="C5D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098280" y="1874519"/>
            <a:ext cx="1097280" cy="1097280"/>
          </a:xfrm>
          <a:prstGeom prst="ellipse">
            <a:avLst/>
          </a:prstGeom>
          <a:solidFill>
            <a:srgbClr val="2A8482"/>
          </a:solidFill>
          <a:ln>
            <a:solidFill>
              <a:srgbClr val="2A84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83879" y="3154680"/>
            <a:ext cx="29260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162C44"/>
                </a:solidFill>
              </a:rPr>
              <a:t>Baseline today -&gt; monitored scientific data platform tomorrow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5715000"/>
            <a:ext cx="10835640" cy="594360"/>
          </a:xfrm>
          <a:prstGeom prst="roundRect">
            <a:avLst/>
          </a:prstGeom>
          <a:solidFill>
            <a:srgbClr val="F5F7FA"/>
          </a:solidFill>
          <a:ln>
            <a:solidFill>
              <a:srgbClr val="DD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56606E"/>
                </a:solidFill>
              </a:defRPr>
            </a:pPr>
            <a:r>
              <a:t>Speaker note: The honest positioning is a reproducible baseline workflow. The next step is moving from static historical data to monitored sensor pipelines.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56606E"/>
                </a:solidFill>
              </a:rPr>
              <a:t>Air Quality Sensor Calibration Dashboard | Python scientific data workflow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